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1F6FD0"/>
                </a:solidFill>
                <a:latin typeface="Calibri"/>
              </a:rPr>
              <a:t>SỔSẠCH · LỘ TRÌNH SẢN PHẨM AI · TEAM DELTA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42B4D"/>
                </a:solidFill>
                <a:latin typeface="Calibri"/>
              </a:rPr>
              <a:t>Làm trước đối chiếu MST và duyệt ~20% hoá đơn (Mức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105156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8FC1FF"/>
                </a:solidFill>
                <a:latin typeface="Calibri"/>
              </a:rPr>
              <a:t>KẾT LUẬN  </a:t>
            </a:r>
            <a:r>
              <a:rPr sz="1600" b="0">
                <a:solidFill>
                  <a:srgbClr val="FFFFFF"/>
                </a:solidFill>
                <a:latin typeface="Calibri"/>
              </a:rPr>
              <a:t>Làm trước đối chiếu mã số thuế và duyệt ~20% hoá đơn (Mức 1): mục tiêu 0 lỗi MST/tiền, biên ≥60%. Quyết định lên Mức 2 vào ngày 90 nếu qua cổng; dừng mở rộng nếu doanh thu bình quân dưới 3,71 triệu/văn phòng.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555040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73152" cy="1965960"/>
          </a:xfrm>
          <a:prstGeom prst="rect">
            <a:avLst/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5230368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6FD0"/>
                </a:solidFill>
                <a:latin typeface="Calibri"/>
              </a:rPr>
              <a:t>3 VIỆC CHÍNH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B38"/>
                </a:solidFill>
                <a:latin typeface="Calibri"/>
              </a:rPr>
              <a:t>1) Đối chiếu MST người bán </a:t>
            </a:r>
            <a:r>
              <a:rPr sz="1500" b="0">
                <a:solidFill>
                  <a:srgbClr val="222B38"/>
                </a:solidFill>
                <a:latin typeface="Calibri"/>
              </a:rPr>
              <a:t>(mua dịch vụ tra cứu), điểm cao nhất 9,38.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B38"/>
                </a:solidFill>
                <a:latin typeface="Calibri"/>
              </a:rPr>
              <a:t>2) Đọc ảnh hoá đơn giấy </a:t>
            </a:r>
            <a:r>
              <a:rPr sz="1500" b="0">
                <a:solidFill>
                  <a:srgbClr val="222B38"/>
                </a:solidFill>
                <a:latin typeface="Calibri"/>
              </a:rPr>
              <a:t>bằng bản 2, giảm 50% giờ nhập.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B38"/>
                </a:solidFill>
                <a:latin typeface="Calibri"/>
              </a:rPr>
              <a:t>3) Gắn cờ hoá đơn cần xem, </a:t>
            </a:r>
            <a:r>
              <a:rPr sz="1500" b="0">
                <a:solidFill>
                  <a:srgbClr val="222B38"/>
                </a:solidFill>
                <a:latin typeface="Calibri"/>
              </a:rPr>
              <a:t>chỉ ~20% hoá đơn.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B38"/>
                </a:solidFill>
                <a:latin typeface="Calibri"/>
              </a:rPr>
              <a:t/>
            </a:r>
            <a:r>
              <a:rPr sz="1500" b="0">
                <a:solidFill>
                  <a:srgbClr val="222B38"/>
                </a:solidFill>
                <a:latin typeface="Calibri"/>
              </a:rPr>
              <a:t>Hoá đơn điện tử dùng tính năng có sẵn.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2560320"/>
            <a:ext cx="555040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344" y="2560320"/>
            <a:ext cx="73152" cy="1965960"/>
          </a:xfrm>
          <a:prstGeom prst="rect">
            <a:avLst/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2651760"/>
            <a:ext cx="5230368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6FD0"/>
                </a:solidFill>
                <a:latin typeface="Calibri"/>
              </a:rPr>
              <a:t>CẦN GÌ (NGƯỜI, TIỀN, DỮ LIỆU)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B38"/>
                </a:solidFill>
                <a:latin typeface="Calibri"/>
              </a:rPr>
              <a:t>Người: </a:t>
            </a:r>
            <a:r>
              <a:rPr sz="1500" b="0">
                <a:solidFill>
                  <a:srgbClr val="222B38"/>
                </a:solidFill>
                <a:latin typeface="Calibri"/>
              </a:rPr>
              <a:t>chị Hạnh 3 giờ sáng thứ Bảy mỗi tuần, anh Tùng hỗ trợ; kế toán viên duyệt ~20%.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B38"/>
                </a:solidFill>
                <a:latin typeface="Calibri"/>
              </a:rPr>
              <a:t>Dữ liệu: </a:t>
            </a:r>
            <a:r>
              <a:rPr sz="1500" b="0">
                <a:solidFill>
                  <a:srgbClr val="222B38"/>
                </a:solidFill>
                <a:latin typeface="Calibri"/>
              </a:rPr>
              <a:t>bộ đề 40 hoá đơn, kiểm 1% hoá đơn thật (~120/tháng).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B38"/>
                </a:solidFill>
                <a:latin typeface="Calibri"/>
              </a:rPr>
              <a:t>Tiền: </a:t>
            </a:r>
            <a:r>
              <a:rPr sz="1500" b="0">
                <a:solidFill>
                  <a:srgbClr val="222B38"/>
                </a:solidFill>
                <a:latin typeface="Calibri"/>
              </a:rPr>
              <a:t>chi phí 704 đ/việc, biên 68,8%; chưa có dữ liệu hạch toán.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63440"/>
            <a:ext cx="555040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663440"/>
            <a:ext cx="73152" cy="1828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754879"/>
            <a:ext cx="5230368" cy="1691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RỦI RO LỚN NHẤT &amp; CÁCH XỬ LÝ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B38"/>
                </a:solidFill>
                <a:latin typeface="Calibri"/>
              </a:rPr>
              <a:t>Doanh thu bình quân thấp </a:t>
            </a:r>
            <a:r>
              <a:rPr sz="1500" b="0">
                <a:solidFill>
                  <a:srgbClr val="222B38"/>
                </a:solidFill>
                <a:latin typeface="Calibri"/>
              </a:rPr>
              <a:t>(65% doanh thu đến từ 30% văn phòng dùng nhiều). Theo dõi hàng tháng; dưới 3,71 triệu/văn phòng 2 tháng liên tiếp, trên ≥10 văn phòng thì dừng mở rộng.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B38"/>
                </a:solidFill>
                <a:latin typeface="Calibri"/>
              </a:rPr>
              <a:t>Có 1 lỗi MST/tiền </a:t>
            </a:r>
            <a:r>
              <a:rPr sz="1500" b="0">
                <a:solidFill>
                  <a:srgbClr val="222B38"/>
                </a:solidFill>
                <a:latin typeface="Calibri"/>
              </a:rPr>
              <a:t>thì quay về Mức 0. Kịch bản xấu: hết tiền tháng 7.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4663440"/>
            <a:ext cx="555040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4663440"/>
            <a:ext cx="73152" cy="1828800"/>
          </a:xfrm>
          <a:prstGeom prst="rect">
            <a:avLst/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4754879"/>
            <a:ext cx="5230368" cy="1691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6FD0"/>
                </a:solidFill>
                <a:latin typeface="Calibri"/>
              </a:rPr>
              <a:t>KHI NÀO XEM LẠI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B38"/>
                </a:solidFill>
                <a:latin typeface="Calibri"/>
              </a:rPr>
              <a:t>Ngày 30, 60 và 90 </a:t>
            </a:r>
            <a:r>
              <a:rPr sz="1500" b="0">
                <a:solidFill>
                  <a:srgbClr val="222B38"/>
                </a:solidFill>
                <a:latin typeface="Calibri"/>
              </a:rPr>
              <a:t>(ngày 90 quyết định lên Mức 2).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B38"/>
                </a:solidFill>
                <a:latin typeface="Calibri"/>
              </a:rPr>
              <a:t>Xem lại ngay khi: </a:t>
            </a:r>
            <a:r>
              <a:rPr sz="1500" b="0">
                <a:solidFill>
                  <a:srgbClr val="222B38"/>
                </a:solidFill>
                <a:latin typeface="Calibri"/>
              </a:rPr>
              <a:t>có 1 lỗi MST/tiền, mô hình mới hoặc giá gọi AI giảm mạnh, đối thủ ra tính năng tương tự, hoặc quy định pháp lý thay đổi.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